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691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5B3E9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3931920"/>
            <a:ext cx="2926080" cy="2926080"/>
          </a:xfrm>
          <a:prstGeom prst="ellipse">
            <a:avLst/>
          </a:prstGeom>
          <a:solidFill>
            <a:srgbClr val="D4A24C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STOCK FINTECH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Mutual Fund Industry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Business Intelligence Capstone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— ETL, Analytics &amp; Power BI Dashboard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2011680" cy="0"/>
          </a:xfrm>
          <a:prstGeom prst="line">
            <a:avLst/>
          </a:prstGeom>
          <a:noFill/>
          <a:ln w="25400">
            <a:solidFill>
              <a:srgbClr val="D4A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3891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4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 — Bluestock Fintech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Ayashvardhan793, Mohangowtham124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STOCK FINTECH  |  Mutual Fund Analysis Capstone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663440"/>
          </a:xfrm>
          <a:prstGeom prst="rect">
            <a:avLst/>
          </a:prstGeom>
          <a:solidFill>
            <a:srgbClr val="F7F5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mutual fund industry spans 40+ schemes across 10 fund houses with no single, unified view of performance, risk, and investor behaviour.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and analysts need to compare funds on more than headline returns — risk-adjusted performance, drawdown, and cost all matter.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scheme codes and category labels can go stale as SEBI regulation evolves (e.g. the 2018 recategorization), creating silent data-quality risk.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6634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clean, validated star-schema pipeline from 10 raw sources to a single analytical database.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performance and risk for all 40 schemes: CAGR, Sharpe, Sortino, Alpha/Beta, VaR/CVaR, max drawdown, and a composite Fund Score.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self-serve, four-page Power BI dashboard so stakeholders can explore industry, performance, and investor trends without touching code.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STOCK FINTECH  |  Mutual Fund Analysis Capstone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dataset of 40 schemes, deliberately calibrated against real AMFI industry benchmarks — directionally realistic at the aggregate level.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3291840"/>
          </a:xfrm>
          <a:prstGeom prst="rect">
            <a:avLst/>
          </a:prstGeom>
          <a:solidFill>
            <a:srgbClr val="5B3E9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2697480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AMFI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calibration — SIP inflows, folio counts, category classifications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0" y="2148840"/>
            <a:ext cx="2697480" cy="32918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2148840"/>
            <a:ext cx="2697480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468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mfapi.in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32004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Live/historical NAV data-fetch API used during ETL for scheme-level NAV history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2148840"/>
            <a:ext cx="2697480" cy="3291840"/>
          </a:xfrm>
          <a:prstGeom prst="rect">
            <a:avLst/>
          </a:prstGeom>
          <a:solidFill>
            <a:srgbClr val="5B3E9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148840"/>
            <a:ext cx="2697480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468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Generator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32004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~33,000 investors: SIP / lumpsum / redemption transactions, demographics, geography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326880" y="2148840"/>
            <a:ext cx="2697480" cy="32918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8" name="Shape 16"/>
          <p:cNvSpPr/>
          <p:nvPr/>
        </p:nvSpPr>
        <p:spPr>
          <a:xfrm>
            <a:off x="9326880" y="2148840"/>
            <a:ext cx="2697480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9" name="Text 17"/>
          <p:cNvSpPr/>
          <p:nvPr/>
        </p:nvSpPr>
        <p:spPr>
          <a:xfrm>
            <a:off x="9509760" y="2468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Indices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09760" y="32004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50, Nifty 100, category benchmarks for relative performance &amp; Alpha/Beta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 (Equity + Debt)   •   ~4.4 years NAV history   •   12 states, T30/B30 city tiers   •   2022–2026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STOCK FINTECH  |  Mutual Fund Analysis Capstone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76272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Raw CSV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transactions,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master, industry metrics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07792" y="2743200"/>
            <a:ext cx="448056" cy="274320"/>
          </a:xfrm>
          <a:prstGeom prst="rightArrow">
            <a:avLst/>
          </a:prstGeom>
          <a:solidFill>
            <a:srgbClr val="D4A24C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201168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8467C4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176272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520440" y="29260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null/dupe checks,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code standardisation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42432" y="2743200"/>
            <a:ext cx="448056" cy="274320"/>
          </a:xfrm>
          <a:prstGeom prst="rightArrow">
            <a:avLst/>
          </a:prstGeom>
          <a:solidFill>
            <a:srgbClr val="D4A24C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201168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5B3E96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176272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DB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55080" y="29260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bluestock_mf.db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dim_fund, dim_date + 3 facts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77072" y="2743200"/>
            <a:ext cx="448056" cy="274320"/>
          </a:xfrm>
          <a:prstGeom prst="rightArrow">
            <a:avLst/>
          </a:prstGeom>
          <a:solidFill>
            <a:srgbClr val="D4A24C"/>
          </a:solidFill>
          <a:ln/>
        </p:spPr>
      </p:sp>
      <p:sp>
        <p:nvSpPr>
          <p:cNvPr id="16" name="Shape 14"/>
          <p:cNvSpPr/>
          <p:nvPr/>
        </p:nvSpPr>
        <p:spPr>
          <a:xfrm>
            <a:off x="9052560" y="201168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1F2A44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2176272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189720" y="29260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performance/risk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4-page dashboard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Detail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 — AMFI code, scheme, house, category, plan, risk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— single shared calendar table across all facts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fact_nav, fact_transactions, fact_industry_metrics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452628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queries against the schema, incl. a CTE + LAG() window function for period-over-period AUM change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independently against the pandas EDA phase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STOCK FINTECH  |  Mutual Fund Analysis Capstone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 • 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Growth Signals</a:t>
            </a:r>
            <a:endParaRPr lang="en-US" sz="3000" dirty="0"/>
          </a:p>
        </p:txBody>
      </p:sp>
      <p:pic>
        <p:nvPicPr>
          <p:cNvPr id="4" name="Image 0" descr="/home/claude/report_assets/eda_03_sip_in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577840" cy="1828800"/>
          </a:xfrm>
          <a:prstGeom prst="rect">
            <a:avLst/>
          </a:prstGeom>
        </p:spPr>
      </p:pic>
      <p:pic>
        <p:nvPicPr>
          <p:cNvPr id="5" name="Image 1" descr="/home/claude/report_assets/eda_08_folio_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29000"/>
            <a:ext cx="557784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355080" y="1417320"/>
            <a:ext cx="5349240" cy="3840480"/>
          </a:xfrm>
          <a:prstGeom prst="rect">
            <a:avLst/>
          </a:prstGeom>
          <a:solidFill>
            <a:srgbClr val="F7F5FB"/>
          </a:solidFill>
          <a:ln/>
        </p:spPr>
      </p:sp>
      <p:sp>
        <p:nvSpPr>
          <p:cNvPr id="7" name="Text 3"/>
          <p:cNvSpPr/>
          <p:nvPr/>
        </p:nvSpPr>
        <p:spPr>
          <a:xfrm>
            <a:off x="6629400" y="1645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3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₹31,002 Cr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6629400" y="21945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 all-time high (Dec 2025) — nearly tripled from ~₹11,000 Cr in Jan 2022, with no major reversals.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629400" y="3108960"/>
            <a:ext cx="4846320" cy="0"/>
          </a:xfrm>
          <a:prstGeom prst="line">
            <a:avLst/>
          </a:prstGeom>
          <a:noFill/>
          <a:ln w="12700">
            <a:solidFill>
              <a:srgbClr val="D8D2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29400" y="32461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3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26.12 Cr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6629400" y="37947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folios by Dec 2025 — nearly double the 13.26 Cr recorded in Jan 2022, with growth accelerating sharply from mid-2024.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629400" y="4709160"/>
            <a:ext cx="4846320" cy="0"/>
          </a:xfrm>
          <a:prstGeom prst="line">
            <a:avLst/>
          </a:prstGeom>
          <a:noFill/>
          <a:ln w="12700">
            <a:solidFill>
              <a:srgbClr val="D8D2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29400" y="4846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leads AUM every year 2022–25, ~1.3x the next-largest house (ICICI Prudential).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STOCK FINTECH  |  Mutual Fund Analysis Capstone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 • 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Invests, and Where</a:t>
            </a:r>
            <a:endParaRPr lang="en-US" sz="3000" dirty="0"/>
          </a:p>
        </p:txBody>
      </p:sp>
      <p:pic>
        <p:nvPicPr>
          <p:cNvPr id="4" name="Image 0" descr="/home/claude/report_assets/eda_05a_age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2743200" cy="2651760"/>
          </a:xfrm>
          <a:prstGeom prst="rect">
            <a:avLst/>
          </a:prstGeom>
        </p:spPr>
      </p:pic>
      <p:pic>
        <p:nvPicPr>
          <p:cNvPr id="5" name="Image 1" descr="/home/claude/report_assets/eda_07_t30_b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463040"/>
            <a:ext cx="2743200" cy="2651760"/>
          </a:xfrm>
          <a:prstGeom prst="rect">
            <a:avLst/>
          </a:prstGeom>
        </p:spPr>
      </p:pic>
      <p:pic>
        <p:nvPicPr>
          <p:cNvPr id="6" name="Image 2" descr="/home/claude/report_assets/eda_09_sector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463040"/>
            <a:ext cx="2743200" cy="265176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4343400"/>
            <a:ext cx="8412480" cy="1737360"/>
          </a:xfrm>
          <a:prstGeom prst="rect">
            <a:avLst/>
          </a:prstGeom>
          <a:solidFill>
            <a:srgbClr val="F7F5FB"/>
          </a:solidFill>
          <a:ln/>
        </p:spPr>
      </p:sp>
      <p:sp>
        <p:nvSpPr>
          <p:cNvPr id="8" name="Text 3"/>
          <p:cNvSpPr/>
          <p:nvPr/>
        </p:nvSpPr>
        <p:spPr>
          <a:xfrm>
            <a:off x="822960" y="4526280"/>
            <a:ext cx="7955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group dominates (40.7%); SIP medians are similar across ages, but high-value outliers (₹40k–60k) appear in every group.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metro cities hold 66.7% of investors vs. 33.3% B30 — penetration is still metro-concentrated.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(19.2%), IT (13.4%) and Pharma (12.0%) make up nearly 45% of aggregated equity holdings.</a:t>
            </a:r>
            <a:endParaRPr lang="en-US" sz="1250" dirty="0"/>
          </a:p>
        </p:txBody>
      </p:sp>
      <p:sp>
        <p:nvSpPr>
          <p:cNvPr id="9" name="Shape 4"/>
          <p:cNvSpPr/>
          <p:nvPr/>
        </p:nvSpPr>
        <p:spPr>
          <a:xfrm>
            <a:off x="9098280" y="4343400"/>
            <a:ext cx="2560320" cy="17373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0" name="Text 5"/>
          <p:cNvSpPr/>
          <p:nvPr/>
        </p:nvSpPr>
        <p:spPr>
          <a:xfrm>
            <a:off x="9235440" y="4526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66.7%</a:t>
            </a:r>
            <a:endParaRPr lang="en-US" sz="2600" dirty="0"/>
          </a:p>
        </p:txBody>
      </p:sp>
      <p:sp>
        <p:nvSpPr>
          <p:cNvPr id="11" name="Text 6"/>
          <p:cNvSpPr/>
          <p:nvPr/>
        </p:nvSpPr>
        <p:spPr>
          <a:xfrm>
            <a:off x="9235440" y="5029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investors are in T30 metro cities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STOCK FINTECH  |  Mutual Fund Analysis Capstone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 • 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Top-Ranked Funds by Composite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 blends CAGR, Sharpe ratio, Alpha, expense ratio &amp; max drawdown into one 0–100 ranking.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675120" cy="2304288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E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Scheme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E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3yr CAGR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E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E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Max DD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E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E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Mirae Asset Large Cap Fund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34.0%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1.46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-11.3%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86.25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ICICI Pru Midcap Fund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31.8%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1.19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-18.2%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82.25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Kotak Flexicap Fund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29.6%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1.32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-13.0%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82.00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HDFC Mid-Cap Opportunities Fund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32.4%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1.10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-16.2%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80.75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ICICI Pru Bluechip Fund (Direct)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32.5%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1.04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-12.6%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80.00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Image 0" descr="/home/claude/report_assets/perf_01_benchmark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5166360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960" y="480060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funds vs. Nifty 50 / Nifty 100 — all five outperformed both benchmarks over the 3-year window.</a:t>
            </a:r>
            <a:endParaRPr lang="en-US" sz="1150" dirty="0"/>
          </a:p>
        </p:txBody>
      </p:sp>
      <p:sp>
        <p:nvSpPr>
          <p:cNvPr id="5" name="Shape 4"/>
          <p:cNvSpPr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54681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r>
              <a:rPr lang="en-US" sz="1250" dirty="0">
                <a:solidFill>
                  <a:srgbClr val="ED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values cluster near zero across all 40 schemes — a known artifact of the synthetic data generation, not a real-market signal.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STOCK FINTECH  |  Mutual Fund Analysis Capstone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 • 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Risk: Drawdown, VaR &amp; Rolling Sharpe</a:t>
            </a:r>
            <a:endParaRPr lang="en-US" sz="3000" dirty="0"/>
          </a:p>
        </p:txBody>
      </p:sp>
      <p:pic>
        <p:nvPicPr>
          <p:cNvPr id="4" name="Image 0" descr="/home/claude/report_assets/adv_01_rolling_shar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49224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Sharpe ratio, top 5 funds — a cyclical, wave-like pattern (roughly -2 to +6) rather than a single sustained trend.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315200" y="1417320"/>
            <a:ext cx="4343400" cy="1828800"/>
          </a:xfrm>
          <a:prstGeom prst="rect">
            <a:avLst/>
          </a:prstGeom>
          <a:solidFill>
            <a:srgbClr val="F7F5FB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15727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3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-52.6%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543800" y="210312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max drawdown (SBI Small Cap Fund) — the 5 worst drawdowns in the dataset are all Small Cap equity schemes.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0" y="3383280"/>
            <a:ext cx="4343400" cy="16002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0" name="Text 7"/>
          <p:cNvSpPr/>
          <p:nvPr/>
        </p:nvSpPr>
        <p:spPr>
          <a:xfrm>
            <a:off x="7543800" y="3520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-2.69% / -3.24%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543800" y="39776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daily VaR / CVaR, SBI Small Cap Fund (Direct) — highest downside risk of all 40 schemes, consistent with its own “Very High” risk tag.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15200" y="5120640"/>
            <a:ext cx="4343400" cy="1051560"/>
          </a:xfrm>
          <a:prstGeom prst="rect">
            <a:avLst/>
          </a:prstGeom>
          <a:solidFill>
            <a:srgbClr val="F7F5FB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23036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Debt/liquid schemes sit at the opposite extreme: Kotak Liquid Fund and ICICI Pru Liquid Fund both show max drawdown under -0.15%.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STOCK FINTECH  |  Mutual Fund Analysis Capstone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 • 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Overview &amp; Fund Performance</a:t>
            </a:r>
            <a:endParaRPr lang="en-US" sz="3000" dirty="0"/>
          </a:p>
        </p:txBody>
      </p:sp>
      <p:pic>
        <p:nvPicPr>
          <p:cNvPr id="4" name="Image 0" descr="/home/claude/report_assets/pbi_01_industry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486400" cy="3429000"/>
          </a:xfrm>
          <a:prstGeom prst="rect">
            <a:avLst/>
          </a:prstGeom>
        </p:spPr>
      </p:pic>
      <p:pic>
        <p:nvPicPr>
          <p:cNvPr id="5" name="Image 1" descr="/home/claude/report_assets/pbi_02_fund_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17320"/>
            <a:ext cx="5486400" cy="3429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92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Industry Overview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172200" y="4892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Fund Performance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57200" y="5303520"/>
            <a:ext cx="11201400" cy="822960"/>
          </a:xfrm>
          <a:prstGeom prst="rect">
            <a:avLst/>
          </a:prstGeom>
          <a:solidFill>
            <a:srgbClr val="F7F5FB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5394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₹62.74 L Cr AUM  •  ₹31K Cr SIP inflows  •  26.12 Cr folios  •  40 schemes — plus an interactive risk/return scatter and full scheme-level metrics table, built on a single shared dim_date model.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STOCK FINTECH  |  Mutual Fund Analysis Capstone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 • 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Analytics &amp; SIP / Market Trends</a:t>
            </a:r>
            <a:endParaRPr lang="en-US" sz="3000" dirty="0"/>
          </a:p>
        </p:txBody>
      </p:sp>
      <p:pic>
        <p:nvPicPr>
          <p:cNvPr id="4" name="Image 0" descr="/home/claude/report_assets/pbi_03_investor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486400" cy="3429000"/>
          </a:xfrm>
          <a:prstGeom prst="rect">
            <a:avLst/>
          </a:prstGeom>
        </p:spPr>
      </p:pic>
      <p:pic>
        <p:nvPicPr>
          <p:cNvPr id="5" name="Image 1" descr="/home/claude/report_assets/pbi_04_sip_market_tr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17320"/>
            <a:ext cx="5486400" cy="3429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92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Investor Analytics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172200" y="4892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SIP &amp; Market Trends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57200" y="5303520"/>
            <a:ext cx="11201400" cy="822960"/>
          </a:xfrm>
          <a:prstGeom prst="rect">
            <a:avLst/>
          </a:prstGeom>
          <a:solidFill>
            <a:srgbClr val="F7F5FB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5394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age-group and city-tier slicers drive investor demographics; a combined SIP-inflow-vs-Nifty-50 view and category net-inflow charts confirm Liquid funds dominate inflows industry-wide.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STOCK FINTECH  |  Mutual Fund Analysis Capstone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1965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 Fund leads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86.25/100 — 34.0% 3yr CAGR, 1.46 Sharpe, contained -11.3% drawdown.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611880" cy="1965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26280" y="20116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caps carry outsized risk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26280" y="25603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largest drawdowns (to -52.6%) and highest VaR/CVaR are Small Cap schemes.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611880" cy="1965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21040" y="20116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 dominate inflows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21040" y="25603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4–8x every other category, every month, in the Apr 2024–Mar 2025 window.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611880" cy="1965960"/>
          </a:xfrm>
          <a:prstGeom prst="rect">
            <a:avLst/>
          </a:prstGeom>
          <a:solidFill>
            <a:srgbClr val="F7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03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3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SIPs &amp; folios nearly tripled / doubled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₹11K→₹31K Cr monthly SIP; 13.26→26.12 Cr folios, 2022–2025.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566160"/>
            <a:ext cx="3611880" cy="1965960"/>
          </a:xfrm>
          <a:prstGeom prst="rect">
            <a:avLst/>
          </a:prstGeom>
          <a:solidFill>
            <a:srgbClr val="F7F5FB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703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3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26280" y="41605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concentration persists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47091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hold 66.7% of investors despite SEBI's B30 push.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566160"/>
            <a:ext cx="3611880" cy="1965960"/>
          </a:xfrm>
          <a:prstGeom prst="rect">
            <a:avLst/>
          </a:prstGeom>
          <a:solidFill>
            <a:srgbClr val="F7F5FB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3703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3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21040" y="41605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2018 recategorization caught early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21040" y="47091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supplied scheme codes were pre-2018 names — flagged to mentor.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STOCK FINTECH  |  Mutual Fund Analysis Capstone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5B3E96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828800"/>
            <a:ext cx="4114800" cy="4114800"/>
          </a:xfrm>
          <a:prstGeom prst="ellipse">
            <a:avLst/>
          </a:prstGeom>
          <a:solidFill>
            <a:srgbClr val="D4A24C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77240" y="3429000"/>
            <a:ext cx="2011680" cy="0"/>
          </a:xfrm>
          <a:prstGeom prst="line">
            <a:avLst/>
          </a:prstGeom>
          <a:noFill/>
          <a:ln w="25400">
            <a:solidFill>
              <a:srgbClr val="D4A2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4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 —  Data Analyst Intern, </a:t>
            </a:r>
            <a:r>
              <a:rPr lang="en-US" sz="1400">
                <a:solidFill>
                  <a:srgbClr val="E4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4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github.com/aksheyei/Mutual-Fund-Analysis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STOCK FINTECH  |  Mutual Fund Analysis Capstone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1286</Words>
  <Application>Microsoft Office PowerPoint</Application>
  <PresentationFormat>Widescreen</PresentationFormat>
  <Paragraphs>187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AKSHAY R</cp:lastModifiedBy>
  <cp:revision>2</cp:revision>
  <dcterms:created xsi:type="dcterms:W3CDTF">2026-08-13T04:11:30Z</dcterms:created>
  <dcterms:modified xsi:type="dcterms:W3CDTF">2026-08-13T04:16:01Z</dcterms:modified>
</cp:coreProperties>
</file>